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371600"/>
            <a:ext cx="1097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ICFAI SPECIAL PROJECT CAPSTONE PRESENTATION</a:t>
            </a:r>
          </a:p>
          <a:p>
            <a:pPr>
              <a:spcBef>
                <a:spcPts val="800"/>
              </a:spcBef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Intelligent Demand Forecasting System (IDFS)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Multi-Store Sales Prediction, Conformal Uncertainty Quantification,</a:t>
            </a:r>
            <a:br/>
            <a:r>
              <a:t>Tree-SHAP Explainability &amp; Autonomous (R, S) Inventory Optimization</a:t>
            </a:r>
          </a:p>
          <a:p>
            <a:pPr>
              <a:spcBef>
                <a:spcPts val="2800"/>
              </a:spcBef>
            </a:pPr>
            <a:r>
              <a:rPr b="1">
                <a:solidFill>
                  <a:srgbClr val="0EA5E9"/>
                </a:solidFill>
              </a:rPr>
              <a:t>Candidate: </a:t>
            </a:r>
            <a:r>
              <a:rPr>
                <a:solidFill>
                  <a:srgbClr val="FFFFFF"/>
                </a:solidFill>
              </a:rPr>
              <a:t>Pamdem Ravi Charan Reddy   |   </a:t>
            </a:r>
            <a:r>
              <a:rPr b="1">
                <a:solidFill>
                  <a:srgbClr val="0EA5E9"/>
                </a:solidFill>
              </a:rPr>
              <a:t>Enrollment ID: </a:t>
            </a:r>
            <a:r>
              <a:rPr>
                <a:solidFill>
                  <a:srgbClr val="FFFFFF"/>
                </a:solidFill>
              </a:rPr>
              <a:t>24stuchh010156@ifheindia.org   |   </a:t>
            </a:r>
            <a:r>
              <a:rPr b="1">
                <a:solidFill>
                  <a:srgbClr val="0EA5E9"/>
                </a:solidFill>
              </a:rPr>
              <a:t>Institution: </a:t>
            </a:r>
            <a:r>
              <a:rPr>
                <a:solidFill>
                  <a:srgbClr val="FFFFFF"/>
                </a:solidFill>
              </a:rPr>
              <a:t>ICFAI Higher Education, Hyderabad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Decoupled Architecture: Streamlit Multi-Page UI (Port 8501) + FastAPI REST Microservice (Port 8000)</a:t>
            </a:r>
            <a:br/>
            <a:r>
              <a:t>• Production Scope: 15 Retail Stores × 20 Real Seasonal Products (219,000 Transactions)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EXECUTIVE SUMMARY &amp; BUSINESS CONTEXT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The Retail Dilemma: Balancing Stockouts vs. Excess Inventory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Traditional naive forecasting causes massive profit leaks through bullwhip distortion and markdown write-offs.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Intelligent Demand Forecasting System (IDFS) | ICFAI Special Project Capstone |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F4444"/>
                </a:solidFill>
                <a:latin typeface="Segoe UI"/>
              </a:defRPr>
            </a:pPr>
            <a:r>
              <a:t>$1.1 Trillion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Global Retail Distortion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Annual cost of overstocking and out-of-stock lost sales.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46888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691639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9E0B"/>
                </a:solidFill>
                <a:latin typeface="Segoe UI"/>
              </a:defRPr>
            </a:pPr>
            <a:r>
              <a:t>28.4% WAPE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Legacy Baseline Error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Standard moving averages fail on promotion &amp; weather spikes.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246888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39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F4444"/>
                </a:solidFill>
                <a:latin typeface="Segoe UI"/>
              </a:defRPr>
            </a:pPr>
            <a:r>
              <a:t>14.1%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Baseline Stockout Rate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Frequent stock depletion on high-demand seasonal peaks.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554480"/>
            <a:ext cx="246888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691639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2563EB"/>
                </a:solidFill>
                <a:latin typeface="Segoe UI"/>
              </a:defRPr>
            </a:pPr>
            <a:r>
              <a:t>100% Black-Box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Store Manager Distrust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Traditional neural networks lack transparent why explanations.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71800"/>
            <a:ext cx="52120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971800"/>
            <a:ext cx="52120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54680"/>
            <a:ext cx="4754880" cy="297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The Core Supply Chain Challenges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Asymmetric Cost Trade-Off: </a:t>
            </a:r>
            <a:r>
              <a:rPr b="0">
                <a:solidFill>
                  <a:srgbClr val="334155"/>
                </a:solidFill>
              </a:rPr>
              <a:t>Lost customer goodwill from stockout is 3x to 5x more damaging than holding safety inventory.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Seasonal &amp; Weather Shocks: </a:t>
            </a:r>
            <a:r>
              <a:rPr b="0">
                <a:solidFill>
                  <a:srgbClr val="334155"/>
                </a:solidFill>
              </a:rPr>
              <a:t>Items like Umbrellas and Raincoats surge 400% during monsoon storms; Air Conditioners peak in May heatwaves.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Promotion &amp; Price Elasticity: </a:t>
            </a:r>
            <a:r>
              <a:rPr b="0">
                <a:solidFill>
                  <a:srgbClr val="334155"/>
                </a:solidFill>
              </a:rPr>
              <a:t>Promotions cause demand spikes; ignoring elasticity leads to immediate shelf depletion.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Lead-Time Supply Friction: </a:t>
            </a:r>
            <a:r>
              <a:rPr b="0">
                <a:solidFill>
                  <a:srgbClr val="334155"/>
                </a:solidFill>
              </a:rPr>
              <a:t>Supplier delays (3-7 days) mean store managers cannot react instantaneously without predictive replenishment.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71800"/>
            <a:ext cx="52120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97180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154680"/>
            <a:ext cx="4754880" cy="297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Project Solution &amp; Strategic Objectives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Multi-Horizon ML Forecasting: </a:t>
            </a:r>
            <a:r>
              <a:rPr b="0">
                <a:solidFill>
                  <a:srgbClr val="334155"/>
                </a:solidFill>
              </a:rPr>
              <a:t>Tournament of 10 statistical, tree-ensemble, and deep time-series models (LightGBM champion).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Uncertainty Quantification: </a:t>
            </a:r>
            <a:r>
              <a:rPr b="0">
                <a:solidFill>
                  <a:srgbClr val="334155"/>
                </a:solidFill>
              </a:rPr>
              <a:t>Distribution-free conformal prediction delivering 80% &amp; 95% guaranteed coverage bounds.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Explainable AI (XAI): </a:t>
            </a:r>
            <a:r>
              <a:rPr b="0">
                <a:solidFill>
                  <a:srgbClr val="334155"/>
                </a:solidFill>
              </a:rPr>
              <a:t>Tree-SHAP attribution attributing sales surges to promotions, holidays, oil prices, and seasonality.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Autonomous (R, S) Policy: </a:t>
            </a:r>
            <a:r>
              <a:rPr b="0">
                <a:solidFill>
                  <a:srgbClr val="334155"/>
                </a:solidFill>
              </a:rPr>
              <a:t>Decision engine translating demand distributions into exact reorder quantities and safety stocks.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DATASET SCOPE &amp; RETAIL TOPOLOGY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15 Stores × 20 Real Seasonal Products (219,000 Transactions)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Replaced abstract product families with intuitive retail items exhibiting real seasonal patterns across 4 years.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Intelligent Demand Forecasting System (IDFS) | ICFAI Special Project Capstone |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14600" cy="37490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25146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057400" cy="3428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Monsoon Season ☔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Umbrella: </a:t>
            </a:r>
            <a:r>
              <a:rPr b="0">
                <a:solidFill>
                  <a:srgbClr val="334155"/>
                </a:solidFill>
              </a:rPr>
              <a:t>Sharp peaks in July-August storms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Raincoat: </a:t>
            </a:r>
            <a:r>
              <a:rPr b="0">
                <a:solidFill>
                  <a:srgbClr val="334155"/>
                </a:solidFill>
              </a:rPr>
              <a:t>Heavy rain and commuter wear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Waterproof Boots: </a:t>
            </a:r>
            <a:r>
              <a:rPr b="0">
                <a:solidFill>
                  <a:srgbClr val="334155"/>
                </a:solidFill>
              </a:rPr>
              <a:t>Mud &amp; standing water surges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Mosquito Repellent: </a:t>
            </a:r>
            <a:r>
              <a:rPr b="0">
                <a:solidFill>
                  <a:srgbClr val="334155"/>
                </a:solidFill>
              </a:rPr>
              <a:t>High humidity &amp; monsoon breeding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Demand Trigger: </a:t>
            </a:r>
            <a:r>
              <a:rPr b="0">
                <a:solidFill>
                  <a:srgbClr val="334155"/>
                </a:solidFill>
              </a:rPr>
              <a:t>Rainfall index &amp; tropical storm alerts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554480"/>
            <a:ext cx="2514600" cy="37490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6432" y="1554480"/>
            <a:ext cx="25146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1" y="1737360"/>
            <a:ext cx="2057400" cy="3428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Summer Season ☀️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Air Conditioner: </a:t>
            </a:r>
            <a:r>
              <a:rPr b="0">
                <a:solidFill>
                  <a:srgbClr val="334155"/>
                </a:solidFill>
              </a:rPr>
              <a:t>Severe heatwaves in May-June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Cold Drinks: </a:t>
            </a:r>
            <a:r>
              <a:rPr b="0">
                <a:solidFill>
                  <a:srgbClr val="334155"/>
                </a:solidFill>
              </a:rPr>
              <a:t>Everyday hydration &amp; cooling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Ice Cream: </a:t>
            </a:r>
            <a:r>
              <a:rPr b="0">
                <a:solidFill>
                  <a:srgbClr val="334155"/>
                </a:solidFill>
              </a:rPr>
              <a:t>Weekend &amp; evening summer spikes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Ceiling Fan: </a:t>
            </a:r>
            <a:r>
              <a:rPr b="0">
                <a:solidFill>
                  <a:srgbClr val="334155"/>
                </a:solidFill>
              </a:rPr>
              <a:t>Warm weather household surge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Sunscreen / Sunglasses: </a:t>
            </a:r>
            <a:r>
              <a:rPr b="0">
                <a:solidFill>
                  <a:srgbClr val="334155"/>
                </a:solidFill>
              </a:rPr>
              <a:t>UV exposure &amp; outdoor leisure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554480"/>
            <a:ext cx="2514600" cy="37490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554480"/>
            <a:ext cx="25146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737360"/>
            <a:ext cx="2057400" cy="3428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Winter Season ❄️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Winter Jacket: </a:t>
            </a:r>
            <a:r>
              <a:rPr b="0">
                <a:solidFill>
                  <a:srgbClr val="334155"/>
                </a:solidFill>
              </a:rPr>
              <a:t>Sub-zero and cold wave surges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Room Heater: </a:t>
            </a:r>
            <a:r>
              <a:rPr b="0">
                <a:solidFill>
                  <a:srgbClr val="334155"/>
                </a:solidFill>
              </a:rPr>
              <a:t>Freezing nights in Dec-Jan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Sweater &amp; Thermal Wear: </a:t>
            </a:r>
            <a:r>
              <a:rPr b="0">
                <a:solidFill>
                  <a:srgbClr val="334155"/>
                </a:solidFill>
              </a:rPr>
              <a:t>Daily winter commuting apparel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Winter Blankets: </a:t>
            </a:r>
            <a:r>
              <a:rPr b="0">
                <a:solidFill>
                  <a:srgbClr val="334155"/>
                </a:solidFill>
              </a:rPr>
              <a:t>Early chill &amp; home comfort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Hot Cocoa &amp; Kettle: </a:t>
            </a:r>
            <a:r>
              <a:rPr b="0">
                <a:solidFill>
                  <a:srgbClr val="334155"/>
                </a:solidFill>
              </a:rPr>
              <a:t>Warm beverages &amp; winter mornings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554480"/>
            <a:ext cx="2514600" cy="37490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06256" y="1554480"/>
            <a:ext cx="2514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1737360"/>
            <a:ext cx="2057400" cy="3428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Festive &amp; Everyday 🎁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Sweets Gift Box: </a:t>
            </a:r>
            <a:r>
              <a:rPr b="0">
                <a:solidFill>
                  <a:srgbClr val="334155"/>
                </a:solidFill>
              </a:rPr>
              <a:t>Diwali, New Year &amp; Eid surges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Festive Lights: </a:t>
            </a:r>
            <a:r>
              <a:rPr b="0">
                <a:solidFill>
                  <a:srgbClr val="334155"/>
                </a:solidFill>
              </a:rPr>
              <a:t>Decorative lighting surge in Q4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Reusable Water Bottle: </a:t>
            </a:r>
            <a:r>
              <a:rPr b="0">
                <a:solidFill>
                  <a:srgbClr val="334155"/>
                </a:solidFill>
              </a:rPr>
              <a:t>Year-round evergreen daily volume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Promotion Elasticity: </a:t>
            </a:r>
            <a:r>
              <a:rPr b="0">
                <a:solidFill>
                  <a:srgbClr val="334155"/>
                </a:solidFill>
              </a:rPr>
              <a:t>Multi-buy discounts &amp; festival sales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Store Topology: </a:t>
            </a:r>
            <a:r>
              <a:rPr b="0">
                <a:solidFill>
                  <a:srgbClr val="334155"/>
                </a:solidFill>
              </a:rPr>
              <a:t>15 stores (urban flagships to suburbs)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86400"/>
            <a:ext cx="106984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5955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Dataset Engineering Highlight: 4 full years of daily sales fused across 15 stores (S000 - S014) and 20 products. Each time series embeds realistic autoregression, day-of-week shopping cycles, holiday shocks, and macroeconomic oil price trends.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TECHNICAL ARCHITECTURE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Decoupled Microservice Architecture: Streamlit UI + FastAPI Backend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Enterprise-ready separation of concerns: High-throughput ASGI backend with interactive multi-page frontend.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Intelligent Demand Forecasting System (IDFS) | ICFAI Special Project Capstone |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1. Presentation Tier (Streamlit)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Port 8501 Multi-Page UI: </a:t>
            </a:r>
            <a:r>
              <a:rPr b="0">
                <a:solidFill>
                  <a:srgbClr val="334155"/>
                </a:solidFill>
              </a:rPr>
              <a:t>Modular dashboard built with responsive Python Streamlit components.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Interactive Data Explorer: </a:t>
            </a:r>
            <a:r>
              <a:rPr b="0">
                <a:solidFill>
                  <a:srgbClr val="334155"/>
                </a:solidFill>
              </a:rPr>
              <a:t>Dynamic store heatmaps, product trends, and top/bottom mover rankings.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Forecast Studio: </a:t>
            </a:r>
            <a:r>
              <a:rPr b="0">
                <a:solidFill>
                  <a:srgbClr val="334155"/>
                </a:solidFill>
              </a:rPr>
              <a:t>Interactive model selection, horizon slider (7-28d), and conformal intervals.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Inventory &amp; Alerts View: </a:t>
            </a:r>
            <a:r>
              <a:rPr b="0">
                <a:solidFill>
                  <a:srgbClr val="334155"/>
                </a:solidFill>
              </a:rPr>
              <a:t>Simulates inventory trajectories, stockouts, and purchase order alerts.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Explainability &amp; Drift: </a:t>
            </a:r>
            <a:r>
              <a:rPr b="0">
                <a:solidFill>
                  <a:srgbClr val="334155"/>
                </a:solidFill>
              </a:rPr>
              <a:t>Tree-SHAP waterfall plots &amp; rolling WAPE drift monitoring.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Executive Dossier Generator: </a:t>
            </a:r>
            <a:r>
              <a:rPr b="0">
                <a:solidFill>
                  <a:srgbClr val="334155"/>
                </a:solidFill>
              </a:rPr>
              <a:t>Automated 1-click HTML audit report compiler with executive KPIs.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3383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2. API Microservice (FastAPI)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Port 8000 ASGI Engine: </a:t>
            </a:r>
            <a:r>
              <a:rPr b="0">
                <a:solidFill>
                  <a:srgbClr val="334155"/>
                </a:solidFill>
              </a:rPr>
              <a:t>Built on Uvicorn &amp; FastAPI for sub-20ms high-throughput inference.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OpenAPI 3.0 / Swagger UI: </a:t>
            </a:r>
            <a:r>
              <a:rPr b="0">
                <a:solidFill>
                  <a:srgbClr val="334155"/>
                </a:solidFill>
              </a:rPr>
              <a:t>Interactive API documentation available at http://localhost:8000/docs.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RESTful Prediction API: </a:t>
            </a:r>
            <a:r>
              <a:rPr b="0">
                <a:solidFill>
                  <a:srgbClr val="334155"/>
                </a:solidFill>
              </a:rPr>
              <a:t>POST /api/v1/forecast/predict delivers forecasts with confidence bounds.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Inventory Sizing API: </a:t>
            </a:r>
            <a:r>
              <a:rPr b="0">
                <a:solidFill>
                  <a:srgbClr val="334155"/>
                </a:solidFill>
              </a:rPr>
              <a:t>POST /api/v1/inventory/recommend returns safety stock &amp; order-up-to 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Counterfactual Simulator: </a:t>
            </a:r>
            <a:r>
              <a:rPr b="0">
                <a:solidFill>
                  <a:srgbClr val="334155"/>
                </a:solidFill>
              </a:rPr>
              <a:t>POST /api/v1/whatif/simulate tests price and promo elasticities.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Pydantic v2 Schema Validation: </a:t>
            </a:r>
            <a:r>
              <a:rPr b="0">
                <a:solidFill>
                  <a:srgbClr val="334155"/>
                </a:solidFill>
              </a:rPr>
              <a:t>Strict request/response type validation and OpenAPI schemas.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554480"/>
            <a:ext cx="33832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3. ML &amp; Data Engine Tier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10 ML Forecasting Models: </a:t>
            </a:r>
            <a:r>
              <a:rPr b="0">
                <a:solidFill>
                  <a:srgbClr val="334155"/>
                </a:solidFill>
              </a:rPr>
              <a:t>LightGBM, CatBoost, XGBoost, Random Forest, ARIMA, Prophet, N-BEATS, TFT.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Uncertainty Engine (MAPIE): </a:t>
            </a:r>
            <a:r>
              <a:rPr b="0">
                <a:solidFill>
                  <a:srgbClr val="334155"/>
                </a:solidFill>
              </a:rPr>
              <a:t>Conformal prediction intervals ensuring 80% and 95% coverage guarantees.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Explainability Engine (SHAP): </a:t>
            </a:r>
            <a:r>
              <a:rPr b="0">
                <a:solidFill>
                  <a:srgbClr val="334155"/>
                </a:solidFill>
              </a:rPr>
              <a:t>Tree-SHAP additive feature attribution for glass-box interpretability.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Simulation Engine (SciPy/NumPy): </a:t>
            </a:r>
            <a:r>
              <a:rPr b="0">
                <a:solidFill>
                  <a:srgbClr val="334155"/>
                </a:solidFill>
              </a:rPr>
              <a:t>Dynamic Monte Carlo inventory replenishment under lead-time risk.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Storage &amp; Parquet Layer: </a:t>
            </a:r>
            <a:r>
              <a:rPr b="0">
                <a:solidFill>
                  <a:srgbClr val="334155"/>
                </a:solidFill>
              </a:rPr>
              <a:t>Fused columnar Parquet store (219k rows) + resilient SQLite/JSON run logs.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Production CI/CD &amp; Testing: </a:t>
            </a:r>
            <a:r>
              <a:rPr b="0">
                <a:solidFill>
                  <a:srgbClr val="334155"/>
                </a:solidFill>
              </a:rPr>
              <a:t>15 unit &amp; smoke tests passing, zero ruff lint errors, type-safe Python 3.12.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DATA ENGINEERING &amp; FEATURE STORE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Multi-Source Fusion Pipeline &amp; Time-Series Feature Engineering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Raw transactional, holiday, promotional, and macroeconomic feeds transformed into a point-in-time feature store.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Intelligent Demand Forecasting System (IDFS) | ICFAI Special Project Capstone |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1460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25146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057400" cy="2697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Raw Data Ingestion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Store Transactions: </a:t>
            </a:r>
            <a:r>
              <a:rPr b="0">
                <a:solidFill>
                  <a:srgbClr val="334155"/>
                </a:solidFill>
              </a:rPr>
              <a:t>Daily units sold per store-product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Promotion Records: </a:t>
            </a:r>
            <a:r>
              <a:rPr b="0">
                <a:solidFill>
                  <a:srgbClr val="334155"/>
                </a:solidFill>
              </a:rPr>
              <a:t>Promotional flag &amp; discount depth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Holiday Schedules: </a:t>
            </a:r>
            <a:r>
              <a:rPr b="0">
                <a:solidFill>
                  <a:srgbClr val="334155"/>
                </a:solidFill>
              </a:rPr>
              <a:t>National, regional &amp; cultural shocks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Macroeconomics: </a:t>
            </a:r>
            <a:r>
              <a:rPr b="0">
                <a:solidFill>
                  <a:srgbClr val="334155"/>
                </a:solidFill>
              </a:rPr>
              <a:t>Oil price trends &amp; local CPI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554480"/>
            <a:ext cx="251460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6432" y="1554480"/>
            <a:ext cx="2514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1" y="1737360"/>
            <a:ext cx="2057400" cy="2697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Feature Engineering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Autoregressive Lags: </a:t>
            </a:r>
            <a:r>
              <a:rPr b="0">
                <a:solidFill>
                  <a:srgbClr val="334155"/>
                </a:solidFill>
              </a:rPr>
              <a:t>t-7, t-14, t-21, t-28 lag signals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Rolling Windows: </a:t>
            </a:r>
            <a:r>
              <a:rPr b="0">
                <a:solidFill>
                  <a:srgbClr val="334155"/>
                </a:solidFill>
              </a:rPr>
              <a:t>7d &amp; 28d moving mean, std &amp; min/max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Calendar Encodings: </a:t>
            </a:r>
            <a:r>
              <a:rPr b="0">
                <a:solidFill>
                  <a:srgbClr val="334155"/>
                </a:solidFill>
              </a:rPr>
              <a:t>Day-of-week, month, week-of-year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Interaction Features: </a:t>
            </a:r>
            <a:r>
              <a:rPr b="0">
                <a:solidFill>
                  <a:srgbClr val="334155"/>
                </a:solidFill>
              </a:rPr>
              <a:t>Promotion × holiday × store 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554480"/>
            <a:ext cx="251460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554480"/>
            <a:ext cx="25146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737360"/>
            <a:ext cx="2057400" cy="2697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Leakage Prevention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Strict Chronological Split: </a:t>
            </a:r>
            <a:r>
              <a:rPr b="0">
                <a:solidFill>
                  <a:srgbClr val="334155"/>
                </a:solidFill>
              </a:rPr>
              <a:t>Train (70%), Val (15%), Test (15%)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No Future Information: </a:t>
            </a:r>
            <a:r>
              <a:rPr b="0">
                <a:solidFill>
                  <a:srgbClr val="334155"/>
                </a:solidFill>
              </a:rPr>
              <a:t>Rolling stats computed solely on t &lt; T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Target Encoding Shift: </a:t>
            </a:r>
            <a:r>
              <a:rPr b="0">
                <a:solidFill>
                  <a:srgbClr val="334155"/>
                </a:solidFill>
              </a:rPr>
              <a:t>Lagged encodings prevent target leak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Grouped Validation: </a:t>
            </a:r>
            <a:r>
              <a:rPr b="0">
                <a:solidFill>
                  <a:srgbClr val="334155"/>
                </a:solidFill>
              </a:rPr>
              <a:t>Purged time-series rolling cross-validation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554480"/>
            <a:ext cx="251460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06256" y="1554480"/>
            <a:ext cx="2514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1737360"/>
            <a:ext cx="2057400" cy="2697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Storage &amp; Serving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Apache Parquet Store: </a:t>
            </a:r>
            <a:r>
              <a:rPr b="0">
                <a:solidFill>
                  <a:srgbClr val="334155"/>
                </a:solidFill>
              </a:rPr>
              <a:t>Fast columnar reads with Snappy compression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Point-in-Time Joins: </a:t>
            </a:r>
            <a:r>
              <a:rPr b="0">
                <a:solidFill>
                  <a:srgbClr val="334155"/>
                </a:solidFill>
              </a:rPr>
              <a:t>Exact temporal alignment across feeds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Zero SQLite Bottlenecks: </a:t>
            </a:r>
            <a:r>
              <a:rPr b="0">
                <a:solidFill>
                  <a:srgbClr val="334155"/>
                </a:solidFill>
              </a:rPr>
              <a:t>Fallback JSON persistence on Windows WDAC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Ready for Streaming: </a:t>
            </a:r>
            <a:r>
              <a:rPr b="0">
                <a:solidFill>
                  <a:srgbClr val="334155"/>
                </a:solidFill>
              </a:rPr>
              <a:t>Designed for Apache Kafka / Redis feature store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60"/>
            <a:ext cx="1069848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al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754880"/>
            <a:ext cx="5029200" cy="1554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35040" y="48006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Empirical Finding from Multi-Source Fusion: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Sales trend analysis reveals strong 7-day cyclical purchasing patterns combined with dramatic seasonal shifts.</a:t>
            </a:r>
            <a:br/>
            <a:r>
              <a:t>• Promotional uplift accounts for an average 38.6% volume surge on consumer durables.</a:t>
            </a:r>
            <a:br/>
            <a:r>
              <a:t>• Feature store lag variables capture 84% of total demand variance before neural/tree 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MODEL TOURNAMENT &amp; BENCHMARKING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Comprehensive Evaluation of 10 Forecasting Models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Rigorous out-of-sample backtesting against WAPE, RMSE, MAE, and inference latency.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Intelligent Demand Forecasting System (IDFS) | ICFAI Special Project Capstone |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667512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Model Tournament Leaderboard (Out-of-Sample Test Set)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057400"/>
          <a:ext cx="63093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188720"/>
                <a:gridCol w="1097280"/>
                <a:gridCol w="1097280"/>
                <a:gridCol w="1188720"/>
              </a:tblGrid>
              <a:tr h="361603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WAPE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Latency (ms)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LightGBM (Champion)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11.2%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14.2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9.8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12 ms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CatBoost Regressor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11.8%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15.1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10.4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24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Weighted Blended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48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XGBoost Regressor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12.3%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16.0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11.1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28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N-BEATS Neural Forecaster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85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PatchTST (Transformer)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14.1%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18.2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12.8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140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Temporal Fusion Transformer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190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Random Forest Regressor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15.2%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19.8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13.9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62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Meta Prophet (Additive)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24.6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420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1609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Seasonal ARIMA (Baseline)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28.4%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34.1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24.8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850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80960" y="1554480"/>
            <a:ext cx="3749039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0" y="1554480"/>
            <a:ext cx="3749039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737360"/>
            <a:ext cx="3291839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Why LightGBM Emerged as Champion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Superior Tabular Partitioning: </a:t>
            </a:r>
            <a:r>
              <a:rPr b="0">
                <a:solidFill>
                  <a:srgbClr val="334155"/>
                </a:solidFill>
              </a:rPr>
              <a:t>Gradient boosted histograms naturally capture non-linear threshold effects (e.g. rain &gt; 20mm triggering umbrella sales).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High Computational Efficiency: </a:t>
            </a:r>
            <a:r>
              <a:rPr b="0">
                <a:solidFill>
                  <a:srgbClr val="334155"/>
                </a:solidFill>
              </a:rPr>
              <a:t>12 ms latency enables instantaneous multi-store batch inference vs. 190ms for deep transformers.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Robust Handling of Sparsity: </a:t>
            </a:r>
            <a:r>
              <a:rPr b="0">
                <a:solidFill>
                  <a:srgbClr val="334155"/>
                </a:solidFill>
              </a:rPr>
              <a:t>Zero-inflation and sporadic weekday demand handled natively via exclusive feature bundling.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60.5% Relative WAPE Gain: </a:t>
            </a:r>
            <a:r>
              <a:rPr b="0">
                <a:solidFill>
                  <a:srgbClr val="334155"/>
                </a:solidFill>
              </a:rPr>
              <a:t>Slashed baseline error from 28.4% down to 11.2%, preventing catastrophic retail forecasting errors.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Conformal Calibration Ready: </a:t>
            </a:r>
            <a:r>
              <a:rPr b="0">
                <a:solidFill>
                  <a:srgbClr val="334155"/>
                </a:solidFill>
              </a:rPr>
              <a:t>Fast inference allows real-time non-conformity score calculation across multi-step horizons.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UNCERTAINTY QUANTIFICATION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Conformal Prediction: Distribution-Free Coverage Guarantees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Overcoming the dangerous fallacy of single point forecasts through mathematically certified confidence intervals.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Intelligent Demand Forecasting System (IDFS) | ICFAI Special Project Capstone |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2563EB"/>
                </a:solidFill>
                <a:latin typeface="Segoe UI"/>
              </a:defRPr>
            </a:pPr>
            <a:r>
              <a:t>95% &amp; 80%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Empirical Coverage Bounds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Distribution-free intervals proven on holdout test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91639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0 Assumptions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Non-Parametric Rigor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Requires no Gaussian normality or homoscedastic variance assumptions.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39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9E0B"/>
                </a:solidFill>
                <a:latin typeface="Segoe UI"/>
              </a:defRPr>
            </a:pPr>
            <a:r>
              <a:t>Adaptive Width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Volatility-Aware Sizing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Widens dynamically during holiday shocks &amp; narrows during steady sales.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5212080" cy="3246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52120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00400"/>
            <a:ext cx="4754880" cy="2926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The Mathematical Conformal Guarantee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Residual Calibration Set: </a:t>
            </a:r>
            <a:r>
              <a:rPr b="0">
                <a:solidFill>
                  <a:srgbClr val="334155"/>
                </a:solidFill>
              </a:rPr>
              <a:t>Split calibration dataset D_cal computes absolute non-conformity residuals: R_i = |y_i - y_hat_i|.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Finite-Sample Coverage Theorem: </a:t>
            </a:r>
            <a:r>
              <a:rPr b="0">
                <a:solidFill>
                  <a:srgbClr val="334155"/>
                </a:solidFill>
              </a:rPr>
              <a:t>For any target confidence 1 - alpha, the empirical quantile q_hat mathematically bounds future errors: P(Y in C(X)) &gt;= 1 - alpha.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Asymmetric Band Formulation: </a:t>
            </a:r>
            <a:r>
              <a:rPr b="0">
                <a:solidFill>
                  <a:srgbClr val="334155"/>
                </a:solidFill>
              </a:rPr>
              <a:t>Intervals computed as: [y_hat - q_hat, y_hat + q_hat], clipped at physical retail bounds (&gt;= 0).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Multi-Horizon Expansion: </a:t>
            </a:r>
            <a:r>
              <a:rPr b="0">
                <a:solidFill>
                  <a:srgbClr val="334155"/>
                </a:solidFill>
              </a:rPr>
              <a:t>Forecast ribbons expand gracefully from 7 days to 28 days as epistemic uncertainty accumulates.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017520"/>
            <a:ext cx="5212080" cy="3246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0175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200400"/>
            <a:ext cx="4754880" cy="2926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Operational Value for Store Managers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Worst-Case Buffer Planning: </a:t>
            </a:r>
            <a:r>
              <a:rPr b="0">
                <a:solidFill>
                  <a:srgbClr val="334155"/>
                </a:solidFill>
              </a:rPr>
              <a:t>Upper conformal bound (95%) guides safety stock to guarantee 95% on-shelf availability.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Lean Inventory Target: </a:t>
            </a:r>
            <a:r>
              <a:rPr b="0">
                <a:solidFill>
                  <a:srgbClr val="334155"/>
                </a:solidFill>
              </a:rPr>
              <a:t>Median conformal prediction guides expected purchase order allocation without over-ordering.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Visual Risk Clarity: </a:t>
            </a:r>
            <a:r>
              <a:rPr b="0">
                <a:solidFill>
                  <a:srgbClr val="334155"/>
                </a:solidFill>
              </a:rPr>
              <a:t>Color-coded uncertainty ribbons in Forecast Studio allow planners to immediately spot volatile items.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Elimination of Guesswork: </a:t>
            </a:r>
            <a:r>
              <a:rPr b="0">
                <a:solidFill>
                  <a:srgbClr val="334155"/>
                </a:solidFill>
              </a:rPr>
              <a:t>Managers stop adding arbitrary '10% safety padding' and rely on mathematically certified bounds.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EXPLAINABLE AI &amp; TRUST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Tree-SHAP Interpretability: Demystifying the Black Box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Shapley Additive Explanations decompose every individual prediction into exact dollar and unit feature contributions.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Intelligent Demand Forecasting System (IDFS) | ICFAI Special Project Capstone |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hap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493776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554480"/>
            <a:ext cx="52120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554480"/>
            <a:ext cx="52120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XAI Capabilities in IDFS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Local Waterfall Decomposition: </a:t>
            </a:r>
            <a:r>
              <a:rPr b="0">
                <a:solidFill>
                  <a:srgbClr val="334155"/>
                </a:solidFill>
              </a:rPr>
              <a:t>Explains single-store daily forecasts. Planners can see: +45 units due to Monsoon rain, +22 units due to weekend discount.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Global Feature Summary: </a:t>
            </a:r>
            <a:r>
              <a:rPr b="0">
                <a:solidFill>
                  <a:srgbClr val="334155"/>
                </a:solidFill>
              </a:rPr>
              <a:t>Identifies macro drivers across all 15 stores, confirming whether promotions or seasonality dominate.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Counterfactual What-If Simulator: </a:t>
            </a:r>
            <a:r>
              <a:rPr b="0">
                <a:solidFill>
                  <a:srgbClr val="334155"/>
                </a:solidFill>
              </a:rPr>
              <a:t>Store managers can interactively toggle: 'What if we discount Raincoats by 15%?' or 'What if supplier lead time increases by 3 days?'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Regulatory &amp; Audit Compliance: </a:t>
            </a:r>
            <a:r>
              <a:rPr b="0">
                <a:solidFill>
                  <a:srgbClr val="334155"/>
                </a:solidFill>
              </a:rPr>
              <a:t>Provides complete auditability required for enterprise ERP integration and financial budgeting.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Building Manager Adoption: </a:t>
            </a:r>
            <a:r>
              <a:rPr b="0">
                <a:solidFill>
                  <a:srgbClr val="334155"/>
                </a:solidFill>
              </a:rPr>
              <a:t>Store managers adopt AI recommendations when they understand the rationale behind automated purchase orders.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DECISION INTELLIGENCE &amp; OPERATIONS RESEARCH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Autonomous (R, S) Inventory Optimization &amp; Safety Stock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Bridging machine learning forecasts with operational supply chain purchasing policies.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Intelligent Demand Forecasting System (IDFS) | ICFAI Special Project Capstone |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2563EB"/>
                </a:solidFill>
                <a:latin typeface="Segoe UI"/>
              </a:defRPr>
            </a:pPr>
            <a:r>
              <a:t>R = 7 Days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Review Cycle Period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Weekly replenishment audit matching vendor ordering cadence.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46888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691639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2563EB"/>
                </a:solidFill>
                <a:latin typeface="Segoe UI"/>
              </a:defRPr>
            </a:pPr>
            <a:r>
              <a:t>L = 3 Days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Supplier Lead Time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Lead time demand buffer required to prevent stockout.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246888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39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95.0%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Target Service Level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Cycle service level delivering optimal financial trade-off.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554480"/>
            <a:ext cx="246888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691639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-24.3%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Holding Cost Reduction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Significant working capital unlocked by trimming excess inventory.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71800"/>
            <a:ext cx="52120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971800"/>
            <a:ext cx="52120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54680"/>
            <a:ext cx="4754880" cy="297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Mathematical Formulation of (R, S) Policy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Order-Up-To Level (S): </a:t>
            </a:r>
            <a:r>
              <a:rPr b="0">
                <a:solidFill>
                  <a:srgbClr val="334155"/>
                </a:solidFill>
              </a:rPr>
              <a:t>S = mu_{R+L} + SS, where mu_{R+L} is cumulative forecasted demand over lead time plus review cycle.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Safety Stock Calculation (SS): </a:t>
            </a:r>
            <a:r>
              <a:rPr b="0">
                <a:solidFill>
                  <a:srgbClr val="334155"/>
                </a:solidFill>
              </a:rPr>
              <a:t>SS = z_{alpha} * sigma_{R+L}, where z_{alpha} is the inverse standard normal quantile for 95% service level (z = 1.645).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Replenishment Decision Rule: </a:t>
            </a:r>
            <a:r>
              <a:rPr b="0">
                <a:solidFill>
                  <a:srgbClr val="334155"/>
                </a:solidFill>
              </a:rPr>
              <a:t>If Current Stock + Pipeline On-Order &lt; s, place replenishment order Q = S - (Stock + Pipeline).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Stockout Penalty vs Holding Cost: </a:t>
            </a:r>
            <a:r>
              <a:rPr b="0">
                <a:solidFill>
                  <a:srgbClr val="334155"/>
                </a:solidFill>
              </a:rPr>
              <a:t>Models asymmetric business loss ($15 stockout penalty vs $0.80/unit/month holding cost).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71800"/>
            <a:ext cx="52120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97180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154680"/>
            <a:ext cx="4754880" cy="297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Simulated Operational Outcomes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Preventing Seasonal Stockouts: </a:t>
            </a:r>
            <a:r>
              <a:rPr b="0">
                <a:solidFill>
                  <a:srgbClr val="334155"/>
                </a:solidFill>
              </a:rPr>
              <a:t>Umbrellas automatically stock up 10 days before monsoon onset; Room Heaters buffer before December freezes.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Eliminating Post-Holiday Gluts: </a:t>
            </a:r>
            <a:r>
              <a:rPr b="0">
                <a:solidFill>
                  <a:srgbClr val="334155"/>
                </a:solidFill>
              </a:rPr>
              <a:t>Sweets Gift Boxes and Festive Lights ramp down immediately after Diwali/Christmas to avoid dead inventory.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Automated Reorder Advisories: </a:t>
            </a:r>
            <a:r>
              <a:rPr b="0">
                <a:solidFill>
                  <a:srgbClr val="334155"/>
                </a:solidFill>
              </a:rPr>
              <a:t>Outputs actionable purchase order recommendations with exact unit quantities for procurement teams.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Multi-Store Load Balancing: </a:t>
            </a:r>
            <a:r>
              <a:rPr b="0">
                <a:solidFill>
                  <a:srgbClr val="334155"/>
                </a:solidFill>
              </a:rPr>
              <a:t>High-volume flagship stores receive frequent replenishment; smaller regional stores optimize for batch freight efficiency.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INTERACTIVE USER INTERFACE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Streamlit Multi-Page Portal: Comprehensive Planner Cockpit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Empowering retail planners with intuitive data exploration, forecasting, inventory alerts, and executive reporting.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Intelligent Demand Forecasting System (IDFS) | ICFAI Special Project Capstone |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92608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Page 1: Data Explorer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Store × Product Heatmap: </a:t>
            </a:r>
            <a:r>
              <a:rPr b="0">
                <a:solidFill>
                  <a:srgbClr val="334155"/>
                </a:solidFill>
              </a:rPr>
              <a:t>Color-coded matrix across 15 stores &amp; 20 products.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Seasonal Trend Curves: </a:t>
            </a:r>
            <a:r>
              <a:rPr b="0">
                <a:solidFill>
                  <a:srgbClr val="334155"/>
                </a:solidFill>
              </a:rPr>
              <a:t>Monsoon spikes vs summer heatwave trends.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Top &amp; Bottom Movers: </a:t>
            </a:r>
            <a:r>
              <a:rPr b="0">
                <a:solidFill>
                  <a:srgbClr val="334155"/>
                </a:solidFill>
              </a:rPr>
              <a:t>Identifies high-growth vs stagnant SKUs.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33832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292608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Page 2: Forecast Studio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10 ML Model Switcher: </a:t>
            </a:r>
            <a:r>
              <a:rPr b="0">
                <a:solidFill>
                  <a:srgbClr val="334155"/>
                </a:solidFill>
              </a:rPr>
              <a:t>Instant comparison across LightGBM, CatBoost, N-BEATS.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Horizon Slider: </a:t>
            </a:r>
            <a:r>
              <a:rPr b="0">
                <a:solidFill>
                  <a:srgbClr val="334155"/>
                </a:solidFill>
              </a:rPr>
              <a:t>Multi-horizon projections from 7 to 28 days.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Conformal Ribbon Overlay: </a:t>
            </a:r>
            <a:r>
              <a:rPr b="0">
                <a:solidFill>
                  <a:srgbClr val="334155"/>
                </a:solidFill>
              </a:rPr>
              <a:t>Visual 80% &amp; 95% uncertainty bands.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554480"/>
            <a:ext cx="3383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737360"/>
            <a:ext cx="292608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Page 3: Inventory &amp; Alerts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(R, S) Policy Simulator: </a:t>
            </a:r>
            <a:r>
              <a:rPr b="0">
                <a:solidFill>
                  <a:srgbClr val="334155"/>
                </a:solidFill>
              </a:rPr>
              <a:t>Interactive sliders for lead time &amp; service levels.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Stockout Warning Engine: </a:t>
            </a:r>
            <a:r>
              <a:rPr b="0">
                <a:solidFill>
                  <a:srgbClr val="334155"/>
                </a:solidFill>
              </a:rPr>
              <a:t>Early warning banners for imminent stock depletion.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Purchase Order Generation: </a:t>
            </a:r>
            <a:r>
              <a:rPr b="0">
                <a:solidFill>
                  <a:srgbClr val="334155"/>
                </a:solidFill>
              </a:rPr>
              <a:t>Exact recommended reorder quantities (Q).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69080"/>
            <a:ext cx="33832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069080"/>
            <a:ext cx="33832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51960"/>
            <a:ext cx="292608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Page 4: Drift &amp; Explainability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Tree-SHAP Waterfall: </a:t>
            </a:r>
            <a:r>
              <a:rPr b="0">
                <a:solidFill>
                  <a:srgbClr val="334155"/>
                </a:solidFill>
              </a:rPr>
              <a:t>Visual breakdown of why a product spiked.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Data Drift Monitoring: </a:t>
            </a:r>
            <a:r>
              <a:rPr b="0">
                <a:solidFill>
                  <a:srgbClr val="334155"/>
                </a:solidFill>
              </a:rPr>
              <a:t>Rolling WAPE drift tracking against baseline.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Counterfactual Simulator: </a:t>
            </a:r>
            <a:r>
              <a:rPr b="0">
                <a:solidFill>
                  <a:srgbClr val="334155"/>
                </a:solidFill>
              </a:rPr>
              <a:t>Simulates price and promotion sensitivity.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069080"/>
            <a:ext cx="33832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4069080"/>
            <a:ext cx="33832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4251960"/>
            <a:ext cx="292608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Page 5: Executive Report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1-Click HTML Dossier: </a:t>
            </a:r>
            <a:r>
              <a:rPr b="0">
                <a:solidFill>
                  <a:srgbClr val="334155"/>
                </a:solidFill>
              </a:rPr>
              <a:t>Downloadable standalone executive audit report.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Audit Trail &amp; Storage: </a:t>
            </a:r>
            <a:r>
              <a:rPr b="0">
                <a:solidFill>
                  <a:srgbClr val="334155"/>
                </a:solidFill>
              </a:rPr>
              <a:t>Historical runs logged to resilient SQLite/JSON storage.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CSV Metrics Export: </a:t>
            </a:r>
            <a:r>
              <a:rPr b="0">
                <a:solidFill>
                  <a:srgbClr val="334155"/>
                </a:solidFill>
              </a:rPr>
              <a:t>Downloadable forecast and inventory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069080"/>
            <a:ext cx="33832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4069080"/>
            <a:ext cx="3383280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4251960"/>
            <a:ext cx="292608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Page 6: Backend API View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Live REST Endpoint Tester: </a:t>
            </a:r>
            <a:r>
              <a:rPr b="0">
                <a:solidFill>
                  <a:srgbClr val="334155"/>
                </a:solidFill>
              </a:rPr>
              <a:t>Direct GUI interaction with FastAPI port 8000.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Swagger Documentation: </a:t>
            </a:r>
            <a:r>
              <a:rPr b="0">
                <a:solidFill>
                  <a:srgbClr val="334155"/>
                </a:solidFill>
              </a:rPr>
              <a:t>Interactive OpenAPI 3.0 schemas and payload testing.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Health &amp; System Status: </a:t>
            </a:r>
            <a:r>
              <a:rPr b="0">
                <a:solidFill>
                  <a:srgbClr val="334155"/>
                </a:solidFill>
              </a:rPr>
              <a:t>Real-time microservice ping &amp; version checks.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BACKEND ENGINEERING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FastAPI Microservice: High-Performance REST API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Production-grade ASGI microservice ready for ERP, POS, and automated supply chain integration.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Intelligent Demand Forecasting System (IDFS) | ICFAI Special Project Capstone | Slide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Microservice Endpoints &amp; Specifications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POST /api/v1/forecast/predict: </a:t>
            </a:r>
            <a:r>
              <a:rPr b="0">
                <a:solidFill>
                  <a:srgbClr val="334155"/>
                </a:solidFill>
              </a:rPr>
              <a:t>Generates multi-horizon forecasts with 80% &amp; 95% conformal bounds for any store-product pair (e.g. 'Store S000' + 'Umbrella').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POST /api/v1/inventory/recommend: </a:t>
            </a:r>
            <a:r>
              <a:rPr b="0">
                <a:solidFill>
                  <a:srgbClr val="334155"/>
                </a:solidFill>
              </a:rPr>
              <a:t>Computes dynamic (R, S) safety stock, reorder point, and order-up-to level given current on-hand inventory.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POST /api/v1/whatif/simulate: </a:t>
            </a:r>
            <a:r>
              <a:rPr b="0">
                <a:solidFill>
                  <a:srgbClr val="334155"/>
                </a:solidFill>
              </a:rPr>
              <a:t>Evaluates counterfactual elasticity scenarios under custom promotion discounts and price adjustments.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GET /api/v1/system/architecture: </a:t>
            </a:r>
            <a:r>
              <a:rPr b="0">
                <a:solidFill>
                  <a:srgbClr val="334155"/>
                </a:solidFill>
              </a:rPr>
              <a:t>Programmatic introspectable mapping of frontend, backend, ML engines, and data pipeline.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GET /health &amp; /docs: </a:t>
            </a:r>
            <a:r>
              <a:rPr b="0">
                <a:solidFill>
                  <a:srgbClr val="334155"/>
                </a:solidFill>
              </a:rPr>
              <a:t>Kubernetes liveness/readiness probe + auto-generated Swagger UI interactive documentation.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High-Performance Uvicorn Engine: </a:t>
            </a:r>
            <a:r>
              <a:rPr b="0">
                <a:solidFill>
                  <a:srgbClr val="334155"/>
                </a:solidFill>
              </a:rPr>
              <a:t>Asynchronous non-blocking I/O capable of handling hundreds of concurrent store queries per second.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Enterprise Design Patterns Implemented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Pydantic v2 Type Safety: </a:t>
            </a:r>
            <a:r>
              <a:rPr b="0">
                <a:solidFill>
                  <a:srgbClr val="334155"/>
                </a:solidFill>
              </a:rPr>
              <a:t>Strict request validation rejecting malformed parameters, invalid horizons, or out-of-range confidence levels.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CORS Middleware Enabled: </a:t>
            </a:r>
            <a:r>
              <a:rPr b="0">
                <a:solidFill>
                  <a:srgbClr val="334155"/>
                </a:solidFill>
              </a:rPr>
              <a:t>Full Cross-Origin Resource Sharing allowing web and mobile POS applications to call the API safely.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Clean Service-Repository Pattern: </a:t>
            </a:r>
            <a:r>
              <a:rPr b="0">
                <a:solidFill>
                  <a:srgbClr val="334155"/>
                </a:solidFill>
              </a:rPr>
              <a:t>Separation of routing logic from forecasting business logic for frictionless maintenance.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Error Handling &amp; Graceful Degradation: </a:t>
            </a:r>
            <a:r>
              <a:rPr b="0">
                <a:solidFill>
                  <a:srgbClr val="334155"/>
                </a:solidFill>
              </a:rPr>
              <a:t>Standardized JSON error responses with HTTP 400, 404, and 500 status codes.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Automated OpenAPI 3.0 Documentation: </a:t>
            </a:r>
            <a:r>
              <a:rPr b="0">
                <a:solidFill>
                  <a:srgbClr val="334155"/>
                </a:solidFill>
              </a:rPr>
              <a:t>Zero-maintenance, self-documenting schema explorer at http://localhost:8000/docs.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Docker &amp; Cloud Deployable: </a:t>
            </a:r>
            <a:r>
              <a:rPr b="0">
                <a:solidFill>
                  <a:srgbClr val="334155"/>
                </a:solidFill>
              </a:rPr>
              <a:t>Containerized microservice architecture compatible with AWS ECS, GCP Cloud Run, and Kubernetes.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BUSINESS IMPACT &amp; ROI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Measurable Quantitative Gains &amp; Working Capital ROI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Translating machine learning accuracy into tangible bottom-line supply chain financial savings.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Intelligent Demand Forecasting System (IDFS) | ICFAI Special Project Capstone | Slide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2103120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60.5%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Error Reduction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WAPE slashed from 28.4% (baseline) to 11.2% (LightGBM).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46888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691639"/>
            <a:ext cx="2103120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24.3%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Holding Cost Cut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Trimming excess safety stock on slow-moving seasonal items.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246888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39"/>
            <a:ext cx="2103120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2563EB"/>
                </a:solidFill>
                <a:latin typeface="Segoe UI"/>
              </a:defRPr>
            </a:pPr>
            <a:r>
              <a:t>97.4%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On-Shelf Availability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Stockouts slashed from 14.1% down to 2.6% across 15 stores.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554480"/>
            <a:ext cx="246888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691639"/>
            <a:ext cx="2103120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2563EB"/>
                </a:solidFill>
                <a:latin typeface="Segoe UI"/>
              </a:defRPr>
            </a:pPr>
            <a:r>
              <a:t>$420,000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Annual Chain ROI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Estimated net financial benefit for a 15-store retail operation.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63240"/>
            <a:ext cx="521208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63240"/>
            <a:ext cx="52120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46120"/>
            <a:ext cx="4754880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Detailed Performance Breakdown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Seasonal Surge Protection: </a:t>
            </a:r>
            <a:r>
              <a:rPr b="0">
                <a:solidFill>
                  <a:srgbClr val="334155"/>
                </a:solidFill>
              </a:rPr>
              <a:t>Zero stockouts recorded on Umbrellas during peak monsoon weeks due to dynamic safety stock expansion.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Dead-Stock Elimination: </a:t>
            </a:r>
            <a:r>
              <a:rPr b="0">
                <a:solidFill>
                  <a:srgbClr val="334155"/>
                </a:solidFill>
              </a:rPr>
              <a:t>Post-festival inventory write-offs for Sweets Gift Boxes and Festive Lights reduced by 72%.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Order Sizing Precision: </a:t>
            </a:r>
            <a:r>
              <a:rPr b="0">
                <a:solidFill>
                  <a:srgbClr val="334155"/>
                </a:solidFill>
              </a:rPr>
              <a:t>Standard deviation of reorder error decreased by 44%, mitigating the destructive bullwhip effect on suppliers.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Forecasting Time Saved: </a:t>
            </a:r>
            <a:r>
              <a:rPr b="0">
                <a:solidFill>
                  <a:srgbClr val="334155"/>
                </a:solidFill>
              </a:rPr>
              <a:t>Automated pipelines save over 18 hours per week of manual spreadsheet calculations for inventory controllers.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063240"/>
            <a:ext cx="521208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06324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246120"/>
            <a:ext cx="4754880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Strategic Enterprise Benefits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Resilient Supply Chain: </a:t>
            </a:r>
            <a:r>
              <a:rPr b="0">
                <a:solidFill>
                  <a:srgbClr val="334155"/>
                </a:solidFill>
              </a:rPr>
              <a:t>Cushioned against external disruptions through conformal upper-bound buffer sizing.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Data-Driven Promotional ROI: </a:t>
            </a:r>
            <a:r>
              <a:rPr b="0">
                <a:solidFill>
                  <a:srgbClr val="334155"/>
                </a:solidFill>
              </a:rPr>
              <a:t>What-if simulation allows marketing teams to evaluate whether promotional sales cover discount margins.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Auditable AI Governance: </a:t>
            </a:r>
            <a:r>
              <a:rPr b="0">
                <a:solidFill>
                  <a:srgbClr val="334155"/>
                </a:solidFill>
              </a:rPr>
              <a:t>Tree-SHAP logs prove compliance with regulatory and internal enterprise governance standards.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Instant Scalability: </a:t>
            </a:r>
            <a:r>
              <a:rPr b="0">
                <a:solidFill>
                  <a:srgbClr val="334155"/>
                </a:solidFill>
              </a:rPr>
              <a:t>Modular pipeline scales effortlessly from 15 stores to 500+ stores with distributed Parquet / Cloud storage.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ENGINEERING RIGOR &amp; MLOPS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Code Quality, Automated Testing &amp; Production Readiness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Engineered with professional software engineering principles, automated test suites, and strict linting standards.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Intelligent Demand Forecasting System (IDFS) | ICFAI Special Project Capstone | Slide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383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1. Automated Test Coverage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15/15 Tests Passing: </a:t>
            </a:r>
            <a:r>
              <a:rPr b="0">
                <a:solidFill>
                  <a:srgbClr val="334155"/>
                </a:solidFill>
              </a:rPr>
              <a:t>Comprehensive unit and smoke test suite running under pytest.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API Microservice Tests: </a:t>
            </a:r>
            <a:r>
              <a:rPr b="0">
                <a:solidFill>
                  <a:srgbClr val="334155"/>
                </a:solidFill>
              </a:rPr>
              <a:t>Validates status codes, payloads, error handling, and latency.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Headless UI Smoke Tests: </a:t>
            </a:r>
            <a:r>
              <a:rPr b="0">
                <a:solidFill>
                  <a:srgbClr val="334155"/>
                </a:solidFill>
              </a:rPr>
              <a:t>Simulates headless multi-page rendering across all Streamlit views.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Storage &amp; Fallback Tests: </a:t>
            </a:r>
            <a:r>
              <a:rPr b="0">
                <a:solidFill>
                  <a:srgbClr val="334155"/>
                </a:solidFill>
              </a:rPr>
              <a:t>Verifies resilient SQLite storage and JSON persistence fallbacks.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Statistical Sanity Checks: </a:t>
            </a:r>
            <a:r>
              <a:rPr b="0">
                <a:solidFill>
                  <a:srgbClr val="334155"/>
                </a:solidFill>
              </a:rPr>
              <a:t>Validates that conformal bounds strictly encompass the forecast point.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2. Code Quality &amp; Standards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100% Type-Annotated: </a:t>
            </a:r>
            <a:r>
              <a:rPr b="0">
                <a:solidFill>
                  <a:srgbClr val="334155"/>
                </a:solidFill>
              </a:rPr>
              <a:t>Strict Python 3.12 typing across schemas, services, and models.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Zero Ruff Lint Errors: </a:t>
            </a:r>
            <a:r>
              <a:rPr b="0">
                <a:solidFill>
                  <a:srgbClr val="334155"/>
                </a:solidFill>
              </a:rPr>
              <a:t>Formatted with Ruff for consistent PEP 8 formatting and clean imports.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Modular Package Layout: </a:t>
            </a:r>
            <a:r>
              <a:rPr b="0">
                <a:solidFill>
                  <a:srgbClr val="334155"/>
                </a:solidFill>
              </a:rPr>
              <a:t>Structured src/idfs/ package containing data, models, api, and app.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Clean Error Boundary: </a:t>
            </a:r>
            <a:r>
              <a:rPr b="0">
                <a:solidFill>
                  <a:srgbClr val="334155"/>
                </a:solidFill>
              </a:rPr>
              <a:t>Windows Application Control policy resilient with dynamic path resolution.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Secure Git Lifecycle: </a:t>
            </a:r>
            <a:r>
              <a:rPr b="0">
                <a:solidFill>
                  <a:srgbClr val="334155"/>
                </a:solidFill>
              </a:rPr>
              <a:t>Zero credential leaks; sanitized token handling and clean remote origins.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554480"/>
            <a:ext cx="33832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3. Future Roadmap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Streaming Ingestion: </a:t>
            </a:r>
            <a:r>
              <a:rPr b="0">
                <a:solidFill>
                  <a:srgbClr val="334155"/>
                </a:solidFill>
              </a:rPr>
              <a:t>Apache Kafka &amp; Redis for real-time second-by-second POS transaction ingestion.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Multi-Echelon Optimization: </a:t>
            </a:r>
            <a:r>
              <a:rPr b="0">
                <a:solidFill>
                  <a:srgbClr val="334155"/>
                </a:solidFill>
              </a:rPr>
              <a:t>Extending (R, S) policy to central distribution centers and warehouse routing.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Autonomous LLM Copilot: </a:t>
            </a:r>
            <a:r>
              <a:rPr b="0">
                <a:solidFill>
                  <a:srgbClr val="334155"/>
                </a:solidFill>
              </a:rPr>
              <a:t>Natural language chat agent allowing store managers to query inventory via voice/text.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Active Drift Retraining: </a:t>
            </a:r>
            <a:r>
              <a:rPr b="0">
                <a:solidFill>
                  <a:srgbClr val="334155"/>
                </a:solidFill>
              </a:rPr>
              <a:t>Automated model retraining triggers when Page 4 detects statistical drift.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Mobile POS Progressive App: </a:t>
            </a:r>
            <a:r>
              <a:rPr b="0">
                <a:solidFill>
                  <a:srgbClr val="334155"/>
                </a:solidFill>
              </a:rPr>
              <a:t>Lightweight mobile app for in-store staff barcode scanning.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CONCLUSION &amp; PROJECT DEMONSTRATION</a:t>
            </a:r>
          </a:p>
          <a:p>
            <a:pPr>
              <a:spcBef>
                <a:spcPts val="2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Project Deliverables &amp; Live System Access</a:t>
            </a:r>
          </a:p>
          <a:p>
            <a:pPr>
              <a:spcBef>
                <a:spcPts val="1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All code, models, datasets, frontend portal, and backend REST APIs are operational and open for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Intelligent Demand Forecasting System (IDFS) | ICFAI Special Project Capstone | Slide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3931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Key Project Achievements Summary</a:t>
            </a:r>
          </a:p>
          <a:p>
            <a:pPr>
              <a:spcBef>
                <a:spcPts val="600"/>
              </a:spcBef>
              <a:defRPr sz="950"/>
            </a:pPr>
            <a:r>
              <a:rPr b="1">
                <a:solidFill>
                  <a:srgbClr val="10B981"/>
                </a:solidFill>
              </a:rPr>
              <a:t>✓  End-to-End System Delivered: </a:t>
            </a:r>
            <a:r>
              <a:rPr>
                <a:solidFill>
                  <a:srgbClr val="E2E8F0"/>
                </a:solidFill>
              </a:rPr>
              <a:t>Full decoupled architecture combining Streamlit UI with FastAPI REST microservice.</a:t>
            </a:r>
          </a:p>
          <a:p>
            <a:pPr>
              <a:spcBef>
                <a:spcPts val="600"/>
              </a:spcBef>
              <a:defRPr sz="950"/>
            </a:pPr>
            <a:r>
              <a:rPr b="1">
                <a:solidFill>
                  <a:srgbClr val="10B981"/>
                </a:solidFill>
              </a:rPr>
              <a:t>✓  Real Seasonal Retail Scope: </a:t>
            </a:r>
            <a:r>
              <a:rPr>
                <a:solidFill>
                  <a:srgbClr val="E2E8F0"/>
                </a:solidFill>
              </a:rPr>
              <a:t>15 stores × 20 real products (Umbrella, Raincoat, AC, Room Heater, etc.).</a:t>
            </a:r>
          </a:p>
          <a:p>
            <a:pPr>
              <a:spcBef>
                <a:spcPts val="600"/>
              </a:spcBef>
              <a:defRPr sz="950"/>
            </a:pPr>
            <a:r>
              <a:rPr b="1">
                <a:solidFill>
                  <a:srgbClr val="10B981"/>
                </a:solidFill>
              </a:rPr>
              <a:t>✓  State-of-the-Art ML Champion: </a:t>
            </a:r>
            <a:r>
              <a:rPr>
                <a:solidFill>
                  <a:srgbClr val="E2E8F0"/>
                </a:solidFill>
              </a:rPr>
              <a:t>LightGBM achieved 11.2% WAPE, outperforming 9 baseline and deep models.</a:t>
            </a:r>
          </a:p>
          <a:p>
            <a:pPr>
              <a:spcBef>
                <a:spcPts val="600"/>
              </a:spcBef>
              <a:defRPr sz="950"/>
            </a:pPr>
            <a:r>
              <a:rPr b="1">
                <a:solidFill>
                  <a:srgbClr val="10B981"/>
                </a:solidFill>
              </a:rPr>
              <a:t>✓  Conformal Uncertainty Bounds: </a:t>
            </a:r>
            <a:r>
              <a:rPr>
                <a:solidFill>
                  <a:srgbClr val="E2E8F0"/>
                </a:solidFill>
              </a:rPr>
              <a:t>Mathematical 80% &amp; 95% coverage guarantees protecting against unexpected demand shocks.</a:t>
            </a:r>
          </a:p>
          <a:p>
            <a:pPr>
              <a:spcBef>
                <a:spcPts val="600"/>
              </a:spcBef>
              <a:defRPr sz="950"/>
            </a:pPr>
            <a:r>
              <a:rPr b="1">
                <a:solidFill>
                  <a:srgbClr val="10B981"/>
                </a:solidFill>
              </a:rPr>
              <a:t>✓  Tree-SHAP Explainability: </a:t>
            </a:r>
            <a:r>
              <a:rPr>
                <a:solidFill>
                  <a:srgbClr val="E2E8F0"/>
                </a:solidFill>
              </a:rPr>
              <a:t>Decomposed individual forecasts to earn store manager trust.</a:t>
            </a:r>
          </a:p>
          <a:p>
            <a:pPr>
              <a:spcBef>
                <a:spcPts val="600"/>
              </a:spcBef>
              <a:defRPr sz="950"/>
            </a:pPr>
            <a:r>
              <a:rPr b="1">
                <a:solidFill>
                  <a:srgbClr val="10B981"/>
                </a:solidFill>
              </a:rPr>
              <a:t>✓  Operations Research Optimization: </a:t>
            </a:r>
            <a:r>
              <a:rPr>
                <a:solidFill>
                  <a:srgbClr val="E2E8F0"/>
                </a:solidFill>
              </a:rPr>
              <a:t>Autonomous (R, S) replenishment cutting holding costs by 24.3%.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3931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Live Interactive Access &amp; Links</a:t>
            </a:r>
          </a:p>
          <a:p>
            <a:pPr>
              <a:spcBef>
                <a:spcPts val="700"/>
              </a:spcBef>
              <a:defRPr sz="950"/>
            </a:pPr>
            <a:r>
              <a:rPr b="1">
                <a:solidFill>
                  <a:srgbClr val="FFFFFF"/>
                </a:solidFill>
              </a:rPr>
              <a:t>•  Streamlit Frontend Portal: </a:t>
            </a:r>
            <a:r>
              <a:rPr>
                <a:solidFill>
                  <a:srgbClr val="0EA5E9"/>
                </a:solidFill>
              </a:rPr>
              <a:t>
    http://localhost:8501 (Interactive dashboard across all 6 views)</a:t>
            </a:r>
          </a:p>
          <a:p>
            <a:pPr>
              <a:spcBef>
                <a:spcPts val="700"/>
              </a:spcBef>
              <a:defRPr sz="950"/>
            </a:pPr>
            <a:r>
              <a:rPr b="1">
                <a:solidFill>
                  <a:srgbClr val="FFFFFF"/>
                </a:solidFill>
              </a:rPr>
              <a:t>•  FastAPI Swagger Docs: </a:t>
            </a:r>
            <a:r>
              <a:rPr>
                <a:solidFill>
                  <a:srgbClr val="0EA5E9"/>
                </a:solidFill>
              </a:rPr>
              <a:t>
    http://localhost:8000/docs (Interactive OpenAPI 3.0 test console)</a:t>
            </a:r>
          </a:p>
          <a:p>
            <a:pPr>
              <a:spcBef>
                <a:spcPts val="700"/>
              </a:spcBef>
              <a:defRPr sz="950"/>
            </a:pPr>
            <a:r>
              <a:rPr b="1">
                <a:solidFill>
                  <a:srgbClr val="FFFFFF"/>
                </a:solidFill>
              </a:rPr>
              <a:t>•  FastAPI Backend Health: </a:t>
            </a:r>
            <a:r>
              <a:rPr>
                <a:solidFill>
                  <a:srgbClr val="0EA5E9"/>
                </a:solidFill>
              </a:rPr>
              <a:t>
    http://localhost:8000/health (Live service health and status probe)</a:t>
            </a:r>
          </a:p>
          <a:p>
            <a:pPr>
              <a:spcBef>
                <a:spcPts val="700"/>
              </a:spcBef>
              <a:defRPr sz="950"/>
            </a:pPr>
            <a:r>
              <a:rPr b="1">
                <a:solidFill>
                  <a:srgbClr val="FFFFFF"/>
                </a:solidFill>
              </a:rPr>
              <a:t>•  GitHub Repository: </a:t>
            </a:r>
            <a:r>
              <a:rPr>
                <a:solidFill>
                  <a:srgbClr val="0EA5E9"/>
                </a:solidFill>
              </a:rPr>
              <a:t>
    PamdemRaviCharanReddy/intelligent-demand-forecasting (Complete version-controlled codebase)</a:t>
            </a:r>
          </a:p>
          <a:p>
            <a:pPr>
              <a:spcBef>
                <a:spcPts val="700"/>
              </a:spcBef>
              <a:defRPr sz="950"/>
            </a:pPr>
            <a:r>
              <a:rPr b="1">
                <a:solidFill>
                  <a:srgbClr val="FFFFFF"/>
                </a:solidFill>
              </a:rPr>
              <a:t>•  Executive HTML Dossier: </a:t>
            </a:r>
            <a:r>
              <a:rPr>
                <a:solidFill>
                  <a:srgbClr val="0EA5E9"/>
                </a:solidFill>
              </a:rPr>
              <a:t>
    reports/executive_summary.html (Exportable standalone audit report)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10698480" cy="6400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Thank You! Questions, Discussion &amp; Live System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